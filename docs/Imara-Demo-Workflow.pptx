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A84C"/>
                </a:solidFill>
                <a:latin typeface="Calibri"/>
              </a:rPr>
              <a:t>إِمَارَة  ·  Imara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AB595"/>
                </a:solidFill>
                <a:latin typeface="Calibri"/>
              </a:rPr>
              <a:t>MOSQUE DIGITAL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End-to-End Demo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8D5BE"/>
                </a:solidFill>
                <a:latin typeface="Calibri"/>
              </a:rPr>
              <a:t>29 October 2026  ·  Hj Suhaimi, Vice Chairman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4480560"/>
            <a:ext cx="2011680" cy="8229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44805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👤  Buyer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4480560"/>
            <a:ext cx="2011680" cy="8229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44805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🛡  Admin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59" y="4480560"/>
            <a:ext cx="2011680" cy="82296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59" y="44805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🏪  Merchant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263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D2B"/>
                </a:solidFill>
                <a:latin typeface="Calibri"/>
              </a:rPr>
              <a:t>mosque-os-ai.vercel.app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COMPLETE 7-STEP AUTOMATED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How Imara works — end to 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3D2B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490472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9616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Calibri"/>
              </a:rPr>
              <a:t>Buyer buys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499616"/>
            <a:ext cx="7680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D5BE"/>
                </a:solidFill>
                <a:latin typeface="Calibri"/>
              </a:rPr>
              <a:t>→  Email to buyer (ack) + email to admin (verify)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3D2B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130551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139696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Buyer tracks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139696"/>
            <a:ext cx="7680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D5BE"/>
                </a:solidFill>
                <a:latin typeface="Calibri"/>
              </a:rPr>
              <a:t>→  /orders auto-refreshes every 30s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3D2B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770632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779776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Calibri"/>
              </a:rPr>
              <a:t>Admin verifies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2779776"/>
            <a:ext cx="7680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D5BE"/>
                </a:solidFill>
                <a:latin typeface="Calibri"/>
              </a:rPr>
              <a:t>→  Email to buyer — e-coupon + QR link  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383279"/>
            <a:ext cx="457200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3832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3D2B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410711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3419856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Buyer gets coupon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3419856"/>
            <a:ext cx="7680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D5BE"/>
                </a:solidFill>
                <a:latin typeface="Calibri"/>
              </a:rPr>
              <a:t>→  /coupons/[token] — QR code on screen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3D2B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050792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059936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Calibri"/>
              </a:rPr>
              <a:t>Merchant redeems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4059936"/>
            <a:ext cx="7680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D5BE"/>
                </a:solidFill>
                <a:latin typeface="Calibri"/>
              </a:rPr>
              <a:t>→  Email to admin — redemption notification  ✅  NEW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663440"/>
            <a:ext cx="457200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663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3D2B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4690872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4700016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Merchant history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4700016"/>
            <a:ext cx="7680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D5BE"/>
                </a:solidFill>
                <a:latin typeface="Calibri"/>
              </a:rPr>
              <a:t>→  /merchant/history — KPI cards &amp; payout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303519"/>
            <a:ext cx="457200" cy="4572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3035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3D2B"/>
                </a:solidFill>
                <a:latin typeface="Calibri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5330951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54480" y="5340095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Calibri"/>
              </a:rPr>
              <a:t>Admin settles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60520" y="5340095"/>
            <a:ext cx="7680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D5BE"/>
                </a:solidFill>
                <a:latin typeface="Calibri"/>
              </a:rPr>
              <a:t>→  /admin/settlements — Mark Settled per merchant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0" i="0">
                <a:solidFill>
                  <a:srgbClr val="FFFFFF"/>
                </a:solidFill>
                <a:latin typeface="Calibri"/>
              </a:rPr>
              <a:t>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SECTION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Buyer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8D5BE"/>
                </a:solidFill>
                <a:latin typeface="Calibri"/>
              </a:rPr>
              <a:t>How a community member buys an e-coupon via PayNow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46304"/>
            <a:ext cx="658368" cy="6583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3D2B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82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Browse Campaigns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0" y="201168"/>
            <a:ext cx="2011680" cy="42062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0" y="201168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D2B"/>
                </a:solidFill>
                <a:latin typeface="Calibri"/>
              </a:rPr>
              <a:t>👤 Buyer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" y="969264"/>
            <a:ext cx="5961888" cy="4910328"/>
          </a:xfrm>
          <a:prstGeom prst="rect">
            <a:avLst/>
          </a:prstGeom>
          <a:noFill/>
          <a:ln w="19050">
            <a:solidFill>
              <a:srgbClr val="1A3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buyer-campaig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4128"/>
            <a:ext cx="5852160" cy="4800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5870448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🖥  02 Buyer Campaigns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024128"/>
            <a:ext cx="2011680" cy="347472"/>
          </a:xfrm>
          <a:prstGeom prst="rect">
            <a:avLst/>
          </a:prstGeom>
          <a:solidFill>
            <a:srgbClr val="1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060704"/>
            <a:ext cx="1865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⬅ 8 live campaigns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5230368"/>
            <a:ext cx="2286000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5266944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D2B"/>
                </a:solidFill>
                <a:latin typeface="Calibri"/>
              </a:rPr>
              <a:t>Grid / list toggle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1298448"/>
            <a:ext cx="2194560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7872" y="1335024"/>
            <a:ext cx="20482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D2B"/>
                </a:solidFill>
                <a:latin typeface="Calibri"/>
              </a:rPr>
              <a:t>Price shown clearly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914399"/>
            <a:ext cx="5897880" cy="2834640"/>
          </a:xfrm>
          <a:prstGeom prst="rect">
            <a:avLst/>
          </a:prstGeom>
          <a:solidFill>
            <a:srgbClr val="F0F4F3"/>
          </a:solidFill>
          <a:ln w="6350">
            <a:solidFill>
              <a:srgbClr val="D0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051560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05156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Visit mosque-os-ai.vercel.app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545336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1545336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No login required — fully public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039112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203911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Click any campaign card to view details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532888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253288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Price, merchant &amp; availability shown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026664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026664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Click 'Buy Voucher' to start checkout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6035040"/>
            <a:ext cx="11640312" cy="594360"/>
          </a:xfrm>
          <a:prstGeom prst="rect">
            <a:avLst/>
          </a:prstGeom>
          <a:solidFill>
            <a:srgbClr val="FFF8E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0807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5000"/>
                </a:solidFill>
                <a:latin typeface="Calibri"/>
              </a:rPr>
              <a:t>💡  Demo bar → 👤 Buyer lands directly on /campaigns — no navigation needed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46304"/>
            <a:ext cx="658368" cy="6583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3D2B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82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Checkout &amp; PayNow Payment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0" y="201168"/>
            <a:ext cx="2011680" cy="42062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0" y="201168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D2B"/>
                </a:solidFill>
                <a:latin typeface="Calibri"/>
              </a:rPr>
              <a:t>👤 Buyer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" y="969264"/>
            <a:ext cx="5961888" cy="4910328"/>
          </a:xfrm>
          <a:prstGeom prst="rect">
            <a:avLst/>
          </a:prstGeom>
          <a:noFill/>
          <a:ln w="19050">
            <a:solidFill>
              <a:srgbClr val="1A3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5-buyer-payn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4128"/>
            <a:ext cx="5852160" cy="4800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5870448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🖥  05 Buyer Paynow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024128"/>
            <a:ext cx="2743200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060704"/>
            <a:ext cx="2596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D2B"/>
                </a:solidFill>
                <a:latin typeface="Calibri"/>
              </a:rPr>
              <a:t>📱 Scan QR with bank app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395728"/>
            <a:ext cx="2560320" cy="347472"/>
          </a:xfrm>
          <a:prstGeom prst="rect">
            <a:avLst/>
          </a:prstGeom>
          <a:solidFill>
            <a:srgbClr val="1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432304"/>
            <a:ext cx="24140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UEN: 6596805367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035808"/>
            <a:ext cx="2926080" cy="347472"/>
          </a:xfrm>
          <a:prstGeom prst="rect">
            <a:avLst/>
          </a:prstGeom>
          <a:solidFill>
            <a:srgbClr val="1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3072384"/>
            <a:ext cx="27797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Reference: IMA-XXXXXX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138928"/>
            <a:ext cx="2286000" cy="347472"/>
          </a:xfrm>
          <a:prstGeom prst="rect">
            <a:avLst/>
          </a:prstGeom>
          <a:solidFill>
            <a:srgbClr val="D97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5175504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30-min countdown timer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914399"/>
            <a:ext cx="5897880" cy="4315968"/>
          </a:xfrm>
          <a:prstGeom prst="rect">
            <a:avLst/>
          </a:prstGeom>
          <a:solidFill>
            <a:srgbClr val="F0F4F3"/>
          </a:solidFill>
          <a:ln w="6350">
            <a:solidFill>
              <a:srgbClr val="D0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051560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105156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Fill: name, email, quantity → Proceed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1545336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1545336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PayNow QR shown — scan with DBS/OCBC/UOB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039112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203911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UEN: 6596805367  (mosque's PayNow ID)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532888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253288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Use IMA-XXXXXX as payment reference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026664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3026664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30-minute countdown to complete transfer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520440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352044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Click 'I've completed payment'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014216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014216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Buyer gets acknowledgment email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507992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450799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Admin gets 'New payment to verify' email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6035040"/>
            <a:ext cx="11640312" cy="594360"/>
          </a:xfrm>
          <a:prstGeom prst="rect">
            <a:avLst/>
          </a:prstGeom>
          <a:solidFill>
            <a:srgbClr val="FFF8E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0807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5000"/>
                </a:solidFill>
                <a:latin typeface="Calibri"/>
              </a:rPr>
              <a:t>💡  Zero fees — full amount hits mosque bank directly via PayNow, no gateway deduction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46304"/>
            <a:ext cx="658368" cy="6583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3D2B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82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Payment Success &amp; Order Tracking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0" y="201168"/>
            <a:ext cx="2011680" cy="42062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0" y="201168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D2B"/>
                </a:solidFill>
                <a:latin typeface="Calibri"/>
              </a:rPr>
              <a:t>👤 Buyer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" y="969264"/>
            <a:ext cx="5961888" cy="4910328"/>
          </a:xfrm>
          <a:prstGeom prst="rect">
            <a:avLst/>
          </a:prstGeom>
          <a:noFill/>
          <a:ln w="19050">
            <a:solidFill>
              <a:srgbClr val="1A3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7c-buyer-order-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4128"/>
            <a:ext cx="5852160" cy="4800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5870448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🖥  07C Buyer Order 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024128"/>
            <a:ext cx="2926080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060704"/>
            <a:ext cx="27797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D2B"/>
                </a:solidFill>
                <a:latin typeface="Calibri"/>
              </a:rPr>
              <a:t>Order Reference prominent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441448"/>
            <a:ext cx="3200400" cy="347472"/>
          </a:xfrm>
          <a:prstGeom prst="rect">
            <a:avLst/>
          </a:prstGeom>
          <a:solidFill>
            <a:srgbClr val="D97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478024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Step 2 pulsing amber 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047488"/>
            <a:ext cx="2743200" cy="347472"/>
          </a:xfrm>
          <a:prstGeom prst="rect">
            <a:avLst/>
          </a:prstGeom>
          <a:solidFill>
            <a:srgbClr val="1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5084064"/>
            <a:ext cx="2596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Auto-refreshes every 30s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914399"/>
            <a:ext cx="5897880" cy="4315968"/>
          </a:xfrm>
          <a:prstGeom prst="rect">
            <a:avLst/>
          </a:prstGeom>
          <a:solidFill>
            <a:srgbClr val="F0F4F3"/>
          </a:solidFill>
          <a:ln w="6350">
            <a:solidFill>
              <a:srgbClr val="D0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051560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05156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Success page shows reference: IMA-XXXXXX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545336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1545336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Green 'Check order status →' button to bookmark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039112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203911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Nav → Track Order → /orders anytime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532888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253288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3-step timeline shows current position: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026664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  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026664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Step 1: Payment initiated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520440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  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352044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Step 2: Awaiting bank verification  ← amber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014216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  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014216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Step 3: Verified — e-coupon sent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507992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50799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Auto-refreshes every 30 seconds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6035040"/>
            <a:ext cx="11640312" cy="594360"/>
          </a:xfrm>
          <a:prstGeom prst="rect">
            <a:avLst/>
          </a:prstGeom>
          <a:solidFill>
            <a:srgbClr val="FFF8E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0807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5000"/>
                </a:solidFill>
                <a:latin typeface="Calibri"/>
              </a:rPr>
              <a:t>💡  Buyer can bookmark /orders/[reference] — page updates automatically when admin verifies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0" i="0">
                <a:solidFill>
                  <a:srgbClr val="FFFFFF"/>
                </a:solidFill>
                <a:latin typeface="Calibri"/>
              </a:rPr>
              <a:t>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SECTION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Admin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8D5BE"/>
                </a:solidFill>
                <a:latin typeface="Calibri"/>
              </a:rPr>
              <a:t>How the mosque committee verifies payments and releases e-coupons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46304"/>
            <a:ext cx="658368" cy="6583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3D2B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82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Admin Dashboard — Pending Verification Panel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0" y="201168"/>
            <a:ext cx="2011680" cy="42062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0" y="201168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D2B"/>
                </a:solidFill>
                <a:latin typeface="Calibri"/>
              </a:rPr>
              <a:t>🛡 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" y="969264"/>
            <a:ext cx="5961888" cy="4910328"/>
          </a:xfrm>
          <a:prstGeom prst="rect">
            <a:avLst/>
          </a:prstGeom>
          <a:noFill/>
          <a:ln w="19050">
            <a:solidFill>
              <a:srgbClr val="1A3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1-admi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4128"/>
            <a:ext cx="5852160" cy="4800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5870448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🖥  11 Admin Dashboard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024128"/>
            <a:ext cx="3200400" cy="347472"/>
          </a:xfrm>
          <a:prstGeom prst="rect">
            <a:avLst/>
          </a:prstGeom>
          <a:solidFill>
            <a:srgbClr val="D97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060704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🟡 Amber panel = action needed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121408"/>
            <a:ext cx="3200400" cy="347472"/>
          </a:xfrm>
          <a:prstGeom prst="rect">
            <a:avLst/>
          </a:prstGeom>
          <a:solidFill>
            <a:srgbClr val="1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157984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Order details + amount shown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4224528"/>
            <a:ext cx="3200400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33472" y="4261104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D2B"/>
                </a:solidFill>
                <a:latin typeface="Calibri"/>
              </a:rPr>
              <a:t>Verify &amp; Send E-Coupon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230368"/>
            <a:ext cx="2743200" cy="34747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5266944"/>
            <a:ext cx="2596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KPI cards: totals at a glance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914399"/>
            <a:ext cx="5897880" cy="4315968"/>
          </a:xfrm>
          <a:prstGeom prst="rect">
            <a:avLst/>
          </a:prstGeom>
          <a:solidFill>
            <a:srgbClr val="F0F4F3"/>
          </a:solidFill>
          <a:ln w="6350">
            <a:solidFill>
              <a:srgbClr val="D0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051560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105156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Admin receives email: 'New PayNow payment'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1545336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1545336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Login: admin / Imara@2026 → /admin/login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039112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203911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Amber panel appears with order details: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532888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  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253288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Reference, buyer, campaign, amount,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026664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3026664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Check mosque bank app — confirm transfer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520440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352044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Click 'Verify &amp; Send E-Coupon'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014216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🎫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014216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Coupon token XXXX-XXXX-XXXX generated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507992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450799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Buyer receives e-coupon email instantly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6035040"/>
            <a:ext cx="11640312" cy="594360"/>
          </a:xfrm>
          <a:prstGeom prst="rect">
            <a:avLst/>
          </a:prstGeom>
          <a:solidFill>
            <a:srgbClr val="FFF8E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0807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5000"/>
                </a:solidFill>
                <a:latin typeface="Calibri"/>
              </a:rPr>
              <a:t>💡  Amber panel appears on BOTH /admin dashboard AND /admin/finance — admin can verify from either page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46304"/>
            <a:ext cx="658368" cy="6583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3D2B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82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Finance, Settlements &amp; Campaigns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0" y="201168"/>
            <a:ext cx="2011680" cy="42062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0" y="201168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D2B"/>
                </a:solidFill>
                <a:latin typeface="Calibri"/>
              </a:rPr>
              <a:t>🛡 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" y="969264"/>
            <a:ext cx="5961888" cy="4910328"/>
          </a:xfrm>
          <a:prstGeom prst="rect">
            <a:avLst/>
          </a:prstGeom>
          <a:noFill/>
          <a:ln w="19050">
            <a:solidFill>
              <a:srgbClr val="1A3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2-admin-fi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4128"/>
            <a:ext cx="5852160" cy="4800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5870448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🖥  12 Admin Finance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024128"/>
            <a:ext cx="3200400" cy="347472"/>
          </a:xfrm>
          <a:prstGeom prst="rect">
            <a:avLst/>
          </a:prstGeom>
          <a:solidFill>
            <a:srgbClr val="D97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060704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Pending settlement amount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1481328"/>
            <a:ext cx="2286000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3472" y="1517904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D2B"/>
                </a:solidFill>
                <a:latin typeface="Calibri"/>
              </a:rPr>
              <a:t>Settle now → link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498848"/>
            <a:ext cx="3200400" cy="347472"/>
          </a:xfrm>
          <a:prstGeom prst="rect">
            <a:avLst/>
          </a:prstGeom>
          <a:solidFill>
            <a:srgbClr val="1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4535424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Weekly revenue chart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914399"/>
            <a:ext cx="5897880" cy="3328416"/>
          </a:xfrm>
          <a:prstGeom prst="rect">
            <a:avLst/>
          </a:prstGeom>
          <a:solidFill>
            <a:srgbClr val="F0F4F3"/>
          </a:solidFill>
          <a:ln w="6350">
            <a:solidFill>
              <a:srgbClr val="D0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051560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05156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Finance page: weekly revenue bar chart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545336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1545336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Campaign performance table (sold vs available)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039112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203911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Pending settlement box → 'Settle now →'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532888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253288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Campaigns page: create, edit, set dates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026664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⚙️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026664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Settings: mosque name, admin email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520440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352044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KPIs: Total Raised · Donors · Coupons Sold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6035040"/>
            <a:ext cx="11640312" cy="594360"/>
          </a:xfrm>
          <a:prstGeom prst="rect">
            <a:avLst/>
          </a:prstGeom>
          <a:solidFill>
            <a:srgbClr val="FFF8E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0807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5000"/>
                </a:solidFill>
                <a:latin typeface="Calibri"/>
              </a:rPr>
              <a:t>💡  All admin pages share the same dark green sidebar — Finance, Campaigns, Settlement, Settings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0" i="0">
                <a:solidFill>
                  <a:srgbClr val="FFFFFF"/>
                </a:solidFill>
                <a:latin typeface="Calibri"/>
              </a:rPr>
              <a:t>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SECTION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E-Coupon &amp; Merchant Redemption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8D5BE"/>
                </a:solidFill>
                <a:latin typeface="Calibri"/>
              </a:rPr>
              <a:t>Buyer receives QR code · Merchant scans and redeems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46304"/>
            <a:ext cx="658368" cy="6583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3D2B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82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Buyer Receives E-Coupon Email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0" y="201168"/>
            <a:ext cx="2011680" cy="42062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0" y="201168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D2B"/>
                </a:solidFill>
                <a:latin typeface="Calibri"/>
              </a:rPr>
              <a:t>👤 Buyer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" y="969264"/>
            <a:ext cx="5961888" cy="4910328"/>
          </a:xfrm>
          <a:prstGeom prst="rect">
            <a:avLst/>
          </a:prstGeom>
          <a:noFill/>
          <a:ln w="19050">
            <a:solidFill>
              <a:srgbClr val="1A3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6-buyer-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4128"/>
            <a:ext cx="5852160" cy="4800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5870448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🖥  06 Buyer Success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024128"/>
            <a:ext cx="3200400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060704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D2B"/>
                </a:solidFill>
                <a:latin typeface="Calibri"/>
              </a:rPr>
              <a:t>Reference shown prominently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10128"/>
            <a:ext cx="3200400" cy="347472"/>
          </a:xfrm>
          <a:prstGeom prst="rect">
            <a:avLst/>
          </a:prstGeom>
          <a:solidFill>
            <a:srgbClr val="1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3346704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'Check order status' button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914399"/>
            <a:ext cx="5897880" cy="3822192"/>
          </a:xfrm>
          <a:prstGeom prst="rect">
            <a:avLst/>
          </a:prstGeom>
          <a:solidFill>
            <a:srgbClr val="F0F4F3"/>
          </a:solidFill>
          <a:ln w="6350">
            <a:solidFill>
              <a:srgbClr val="D0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051560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105156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Email: 'Your e-coupon is ready'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545336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545336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Coupon token: XXXX-XXXX-XXXX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039112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203911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'View coupon &amp; QR code →' button in email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532888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253288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Tap → /coupons/[token] — large QR on screen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026664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3026664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Order tracking: Step 3 now green ✓ 'Verified'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520440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52044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Buyer visits merchant and shows QR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014216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4014216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2 coupons bought → 2 separate tokens in email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6035040"/>
            <a:ext cx="11640312" cy="594360"/>
          </a:xfrm>
          <a:prstGeom prst="rect">
            <a:avLst/>
          </a:prstGeom>
          <a:solidFill>
            <a:srgbClr val="FFF8E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0807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5000"/>
                </a:solidFill>
                <a:latin typeface="Calibri"/>
              </a:rPr>
              <a:t>💡  If buyer loses the email, they can find the coupon via Nav → Track Order → /orders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46304"/>
            <a:ext cx="658368" cy="6583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3D2B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82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Merchant Redeems E-Coupon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0" y="201168"/>
            <a:ext cx="2011680" cy="42062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0" y="201168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D2B"/>
                </a:solidFill>
                <a:latin typeface="Calibri"/>
              </a:rPr>
              <a:t>🏪 Merchant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" y="969264"/>
            <a:ext cx="5961888" cy="4910328"/>
          </a:xfrm>
          <a:prstGeom prst="rect">
            <a:avLst/>
          </a:prstGeom>
          <a:noFill/>
          <a:ln w="19050">
            <a:solidFill>
              <a:srgbClr val="1A3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21-merchant-rede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4128"/>
            <a:ext cx="5852160" cy="4800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5870448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🖥  21 Merchant Redeem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024128"/>
            <a:ext cx="2743200" cy="347472"/>
          </a:xfrm>
          <a:prstGeom prst="rect">
            <a:avLst/>
          </a:prstGeom>
          <a:solidFill>
            <a:srgbClr val="1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060704"/>
            <a:ext cx="2596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Dark sidebar = merchant portal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664208"/>
            <a:ext cx="2560320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1700784"/>
            <a:ext cx="24140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D2B"/>
                </a:solidFill>
                <a:latin typeface="Calibri"/>
              </a:rPr>
              <a:t>📷 Scan QR button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127248"/>
            <a:ext cx="2926080" cy="34747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3163824"/>
            <a:ext cx="27797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Or paste token manually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914399"/>
            <a:ext cx="5897880" cy="4315968"/>
          </a:xfrm>
          <a:prstGeom prst="rect">
            <a:avLst/>
          </a:prstGeom>
          <a:solidFill>
            <a:srgbClr val="F0F4F3"/>
          </a:solidFill>
          <a:ln w="6350">
            <a:solidFill>
              <a:srgbClr val="D0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051560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05156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Demo bar → 🏪 Merchant (bypass PIN for demo)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545336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1545336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OPTION A: Scan QR Code (Android Chrome)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039112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 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203911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Camera opens → points at buyer's screen → auto-fill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532888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⌨️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253288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OPTION B: Paste token XXXX-XXXX-XXXX → Look 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026664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026664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OPTION C: iPhone native Camera → 'Open in Safari'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520440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352044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Coupon card: ✓ VALID · campaign · S$XX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014216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014216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Click 'Confirm &amp; Mark Redeemed'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507992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50799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Admin notified by email instantly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6035040"/>
            <a:ext cx="11640312" cy="594360"/>
          </a:xfrm>
          <a:prstGeom prst="rect">
            <a:avLst/>
          </a:prstGeom>
          <a:solidFill>
            <a:srgbClr val="FFF8E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0807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5000"/>
                </a:solidFill>
                <a:latin typeface="Calibri"/>
              </a:rPr>
              <a:t>💡  After redemption: merchant sees 'Voucher Redeemed!' — coupon atomically marked, cannot be double-spent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46304"/>
            <a:ext cx="658368" cy="6583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3D2B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82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Merchant History &amp; KPI Cards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0" y="201168"/>
            <a:ext cx="2011680" cy="42062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0" y="201168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D2B"/>
                </a:solidFill>
                <a:latin typeface="Calibri"/>
              </a:rPr>
              <a:t>🏪 Merchant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" y="969264"/>
            <a:ext cx="5961888" cy="4910328"/>
          </a:xfrm>
          <a:prstGeom prst="rect">
            <a:avLst/>
          </a:prstGeom>
          <a:noFill/>
          <a:ln w="19050">
            <a:solidFill>
              <a:srgbClr val="1A3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22-merchant-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4128"/>
            <a:ext cx="5852160" cy="4800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5870448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🖥  22 Merchant History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024128"/>
            <a:ext cx="2560320" cy="347472"/>
          </a:xfrm>
          <a:prstGeom prst="rect">
            <a:avLst/>
          </a:prstGeom>
          <a:solidFill>
            <a:srgbClr val="1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060704"/>
            <a:ext cx="24140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Total Redeemed (count)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1024128"/>
            <a:ext cx="2560320" cy="347472"/>
          </a:xfrm>
          <a:prstGeom prst="rect">
            <a:avLst/>
          </a:prstGeom>
          <a:solidFill>
            <a:srgbClr val="D97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59152" y="1060704"/>
            <a:ext cx="24140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Pending Payout (S$)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024128"/>
            <a:ext cx="1828800" cy="34747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1060704"/>
            <a:ext cx="16824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Total Earned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914399"/>
            <a:ext cx="5897880" cy="2834640"/>
          </a:xfrm>
          <a:prstGeom prst="rect">
            <a:avLst/>
          </a:prstGeom>
          <a:solidFill>
            <a:srgbClr val="F0F4F3"/>
          </a:solidFill>
          <a:ln w="6350">
            <a:solidFill>
              <a:srgbClr val="D0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051560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05156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History page: KPI cards at top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545336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1545336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Total Redeemed — number of coupons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039112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203911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Pending Payout — merchant's 50% not yet settled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532888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253288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Total Earned — all-time merchant portion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026664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026664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Per-coupon list with dates below KPIs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6035040"/>
            <a:ext cx="11640312" cy="594360"/>
          </a:xfrm>
          <a:prstGeom prst="rect">
            <a:avLst/>
          </a:prstGeom>
          <a:solidFill>
            <a:srgbClr val="FFF8E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0807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5000"/>
                </a:solidFill>
                <a:latin typeface="Calibri"/>
              </a:rPr>
              <a:t>💡  Pending Payout clears to S$0 after admin clicks 'Mark Settled' on /admin/settlements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0" i="0">
                <a:solidFill>
                  <a:srgbClr val="FFFFFF"/>
                </a:solidFill>
                <a:latin typeface="Calibri"/>
              </a:rPr>
              <a:t>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SECTION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Admin Settlement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8D5BE"/>
                </a:solidFill>
                <a:latin typeface="Calibri"/>
              </a:rPr>
              <a:t>Mosque calculates and pays merchant partners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146304"/>
            <a:ext cx="658368" cy="6583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3716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3D2B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82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Admin Settles with Merchant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0" y="201168"/>
            <a:ext cx="2011680" cy="42062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0" y="201168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D2B"/>
                </a:solidFill>
                <a:latin typeface="Calibri"/>
              </a:rPr>
              <a:t>🛡 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" y="969264"/>
            <a:ext cx="5961888" cy="4910328"/>
          </a:xfrm>
          <a:prstGeom prst="rect">
            <a:avLst/>
          </a:prstGeom>
          <a:noFill/>
          <a:ln w="19050">
            <a:solidFill>
              <a:srgbClr val="1A3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3-admin-settl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4128"/>
            <a:ext cx="5852160" cy="4800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5870448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🖥  13 Admin Settlements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024128"/>
            <a:ext cx="3200400" cy="347472"/>
          </a:xfrm>
          <a:prstGeom prst="rect">
            <a:avLst/>
          </a:prstGeom>
          <a:solidFill>
            <a:srgbClr val="1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060704"/>
            <a:ext cx="30540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Grouped by merchant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670048"/>
            <a:ext cx="2560320" cy="34747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706624"/>
            <a:ext cx="24140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50% mosque portion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2670048"/>
            <a:ext cx="2560320" cy="34747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90672" y="2706624"/>
            <a:ext cx="24140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D2B"/>
                </a:solidFill>
                <a:latin typeface="Calibri"/>
              </a:rPr>
              <a:t>50% merchant portion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4773168"/>
            <a:ext cx="2286000" cy="347472"/>
          </a:xfrm>
          <a:prstGeom prst="rect">
            <a:avLst/>
          </a:prstGeom>
          <a:solidFill>
            <a:srgbClr val="1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33472" y="4809744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Mark Settled 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914399"/>
            <a:ext cx="5897880" cy="4315968"/>
          </a:xfrm>
          <a:prstGeom prst="rect">
            <a:avLst/>
          </a:prstGeom>
          <a:solidFill>
            <a:srgbClr val="F0F4F3"/>
          </a:solidFill>
          <a:ln w="6350">
            <a:solidFill>
              <a:srgbClr val="D0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051560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105156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Admin receives: 'Coupon redeemed · Merchant · S$X'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1545336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1545336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Sidebar → Settlement (or Finance → 'Settle now →')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039112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203911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Page shows redeemed coupons by merchant: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532888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  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253288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Mosque portion 50%: S$XX  (kept)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026664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  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3026664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Merchant portion 50%: S$XX  (to pay)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520440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352044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Admin PayNows S$XX to merchant (manual transfer)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014216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014216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Click 'Mark Settled' → timestamp recorded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507992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D2B"/>
                </a:solidFill>
                <a:latin typeface="Calibri"/>
              </a:rPr>
              <a:t>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450799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Settlement only for REDEEMED coupons (service done)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6035040"/>
            <a:ext cx="11640312" cy="594360"/>
          </a:xfrm>
          <a:prstGeom prst="rect">
            <a:avLst/>
          </a:prstGeom>
          <a:solidFill>
            <a:srgbClr val="FFF8E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0807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5000"/>
                </a:solidFill>
                <a:latin typeface="Calibri"/>
              </a:rPr>
              <a:t>💡  Settlement is triggered by redemption (service delivered), not purchase — ensures merchant earns only after serving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Key Identifiers — Order Reference  vs  Coupon Token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5486400" cy="47548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5486400" cy="411480"/>
          </a:xfrm>
          <a:prstGeom prst="rect">
            <a:avLst/>
          </a:prstGeom>
          <a:solidFill>
            <a:srgbClr val="1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155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ORDER REFERENCE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3D2B"/>
                </a:solidFill>
                <a:latin typeface="Calibri"/>
              </a:rPr>
              <a:t>IMA-Y5MNEA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68880"/>
            <a:ext cx="5394960" cy="502920"/>
          </a:xfrm>
          <a:prstGeom prst="rect">
            <a:avLst/>
          </a:prstGeom>
          <a:solidFill>
            <a:srgbClr val="F0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2374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  <a:latin typeface="Calibri"/>
              </a:rPr>
              <a:t>Created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52374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D2B"/>
                </a:solidFill>
                <a:latin typeface="Calibri"/>
              </a:rPr>
              <a:t>When buyer places order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35808"/>
            <a:ext cx="5394960" cy="502920"/>
          </a:xfrm>
          <a:prstGeom prst="rect">
            <a:avLst/>
          </a:prstGeom>
          <a:solidFill>
            <a:srgbClr val="F0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09067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  <a:latin typeface="Calibri"/>
              </a:rPr>
              <a:t>Used 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09067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D2B"/>
                </a:solidFill>
                <a:latin typeface="Calibri"/>
              </a:rPr>
              <a:t>Buyer — to track order 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02736"/>
            <a:ext cx="5394960" cy="502920"/>
          </a:xfrm>
          <a:prstGeom prst="rect">
            <a:avLst/>
          </a:prstGeom>
          <a:solidFill>
            <a:srgbClr val="F0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65760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  <a:latin typeface="Calibri"/>
              </a:rPr>
              <a:t>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65760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D2B"/>
                </a:solidFill>
                <a:latin typeface="Calibri"/>
              </a:rPr>
              <a:t>/orders  (Track Order in nav)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169664"/>
            <a:ext cx="5394960" cy="502920"/>
          </a:xfrm>
          <a:prstGeom prst="rect">
            <a:avLst/>
          </a:prstGeom>
          <a:solidFill>
            <a:srgbClr val="F0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22452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  <a:latin typeface="Calibri"/>
              </a:rPr>
              <a:t>Also 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22452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D2B"/>
                </a:solidFill>
                <a:latin typeface="Calibri"/>
              </a:rPr>
              <a:t>PayNow page as payment reference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736592"/>
            <a:ext cx="5394960" cy="502920"/>
          </a:xfrm>
          <a:prstGeom prst="rect">
            <a:avLst/>
          </a:prstGeom>
          <a:solidFill>
            <a:srgbClr val="F0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791455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  <a:latin typeface="Calibri"/>
              </a:rPr>
              <a:t>Example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791455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D2B"/>
                </a:solidFill>
                <a:latin typeface="Calibri"/>
              </a:rPr>
              <a:t>IMA-Y5MNEA, IMA-GZSP6W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5394960"/>
            <a:ext cx="2286000" cy="384048"/>
          </a:xfrm>
          <a:prstGeom prst="rect">
            <a:avLst/>
          </a:prstGeom>
          <a:solidFill>
            <a:srgbClr val="1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431536"/>
            <a:ext cx="2139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Buyer uses this
for tracking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097280"/>
            <a:ext cx="5486400" cy="475488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1097280"/>
            <a:ext cx="5486400" cy="4114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11155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D2B"/>
                </a:solidFill>
                <a:latin typeface="Calibri"/>
              </a:rPr>
              <a:t>COUPON TOKEN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164592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D2B"/>
                </a:solidFill>
                <a:latin typeface="Calibri"/>
              </a:rPr>
              <a:t>ABCD-EFG2-HJK3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2468880"/>
            <a:ext cx="5394960" cy="502920"/>
          </a:xfrm>
          <a:prstGeom prst="rect">
            <a:avLst/>
          </a:prstGeom>
          <a:solidFill>
            <a:srgbClr val="F0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252374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  <a:latin typeface="Calibri"/>
              </a:rPr>
              <a:t>Created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252374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D2B"/>
                </a:solidFill>
                <a:latin typeface="Calibri"/>
              </a:rPr>
              <a:t>When admin verifies payment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3035808"/>
            <a:ext cx="5394960" cy="502920"/>
          </a:xfrm>
          <a:prstGeom prst="rect">
            <a:avLst/>
          </a:prstGeom>
          <a:solidFill>
            <a:srgbClr val="F0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309067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  <a:latin typeface="Calibri"/>
              </a:rPr>
              <a:t>Used by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309067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D2B"/>
                </a:solidFill>
                <a:latin typeface="Calibri"/>
              </a:rPr>
              <a:t>Merchant — to redeem voucher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46520" y="3602736"/>
            <a:ext cx="5394960" cy="502920"/>
          </a:xfrm>
          <a:prstGeom prst="rect">
            <a:avLst/>
          </a:prstGeom>
          <a:solidFill>
            <a:srgbClr val="F0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365760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  <a:latin typeface="Calibri"/>
              </a:rPr>
              <a:t>Page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365760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D2B"/>
                </a:solidFill>
                <a:latin typeface="Calibri"/>
              </a:rPr>
              <a:t>/merchant/redeem  (Redeem page)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46520" y="4169664"/>
            <a:ext cx="5394960" cy="502920"/>
          </a:xfrm>
          <a:prstGeom prst="rect">
            <a:avLst/>
          </a:prstGeom>
          <a:solidFill>
            <a:srgbClr val="F0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422452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  <a:latin typeface="Calibri"/>
              </a:rPr>
              <a:t>Also 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422452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D2B"/>
                </a:solidFill>
                <a:latin typeface="Calibri"/>
              </a:rPr>
              <a:t>/coupons/[token]  — QR code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46520" y="4736592"/>
            <a:ext cx="5394960" cy="502920"/>
          </a:xfrm>
          <a:prstGeom prst="rect">
            <a:avLst/>
          </a:prstGeom>
          <a:solidFill>
            <a:srgbClr val="F0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4791455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  <a:latin typeface="Calibri"/>
              </a:rPr>
              <a:t>Example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4791455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3D2B"/>
                </a:solidFill>
                <a:latin typeface="Calibri"/>
              </a:rPr>
              <a:t>ABCD-EFG2-HJK3, WXYZ-1234-PQRS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46520" y="5394960"/>
            <a:ext cx="2377440" cy="3840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19672" y="5431536"/>
            <a:ext cx="22311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D2B"/>
                </a:solidFill>
                <a:latin typeface="Calibri"/>
              </a:rPr>
              <a:t>Merchant uses this
for redemption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0" y="2834640"/>
            <a:ext cx="822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Calibri"/>
              </a:rPr>
              <a:t>1 order
→
1+ tokens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6035040"/>
            <a:ext cx="11640312" cy="594360"/>
          </a:xfrm>
          <a:prstGeom prst="rect">
            <a:avLst/>
          </a:prstGeom>
          <a:solidFill>
            <a:srgbClr val="FFF8E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60807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85000"/>
                </a:solidFill>
                <a:latin typeface="Calibri"/>
              </a:rPr>
              <a:t>💡  Serial number links them: IMA-Y5MNEA-01, IMA-Y5MNEA-02 (one per coupon quantity purchased)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50 / 50 Split — How the Money 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11548872" cy="1920240"/>
          </a:xfrm>
          <a:prstGeom prst="rect">
            <a:avLst/>
          </a:prstGeom>
          <a:solidFill>
            <a:srgbClr val="1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9A84C"/>
                </a:solidFill>
                <a:latin typeface="Calibri"/>
              </a:rPr>
              <a:t>Example: 1 × Roti Prata Combo  ·  S$8 total via PayNow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5303520" cy="7772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🕌  S$4  →  Mosque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1284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D5BE"/>
                </a:solidFill>
                <a:latin typeface="Calibri"/>
              </a:rPr>
              <a:t>Fundraising proceeds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737360"/>
            <a:ext cx="5303520" cy="777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78308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D2B"/>
                </a:solidFill>
                <a:latin typeface="Calibri"/>
              </a:rPr>
              <a:t>🏪  S$4  →  Merchant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21284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3D2B"/>
                </a:solidFill>
                <a:latin typeface="Calibri"/>
              </a:rPr>
              <a:t>Reimbursement for meal served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246120"/>
            <a:ext cx="115488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319272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D2B"/>
                </a:solidFill>
                <a:latin typeface="Calibri"/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37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D2B"/>
                </a:solidFill>
                <a:latin typeface="Calibri"/>
              </a:rPr>
              <a:t>Zero platform fees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33756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PayNow direct — full S$8 received by mosque, no gateway deduction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867911"/>
            <a:ext cx="115488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941063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D2B"/>
                </a:solidFill>
                <a:latin typeface="Calibri"/>
              </a:rPr>
              <a:t>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59351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D2B"/>
                </a:solidFill>
                <a:latin typeface="Calibri"/>
              </a:rPr>
              <a:t>Unsettled until redeemed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3959351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Merchant is only paid after they serve the customer — not on purchase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489704"/>
            <a:ext cx="115488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562856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D2B"/>
                </a:solidFill>
                <a:latin typeface="Calibri"/>
              </a:rPr>
              <a:t>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8114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D2B"/>
                </a:solidFill>
                <a:latin typeface="Calibri"/>
              </a:rPr>
              <a:t>Full audit trail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4581144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Every token timestamped: created → redeemed → settled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111496"/>
            <a:ext cx="115488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184648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D2B"/>
                </a:solidFill>
                <a:latin typeface="Calibri"/>
              </a:rPr>
              <a:t>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20293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D2B"/>
                </a:solidFill>
                <a:latin typeface="Calibri"/>
              </a:rPr>
              <a:t>Multi-coupon orders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5202936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3 × S$8 = S$24 → 3 separate coupon tokens, each redeemable once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733288"/>
            <a:ext cx="115488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806440"/>
            <a:ext cx="365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3D2B"/>
                </a:solidFill>
                <a:latin typeface="Calibri"/>
              </a:rPr>
              <a:t>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824727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D2B"/>
                </a:solidFill>
                <a:latin typeface="Calibri"/>
              </a:rPr>
              <a:t>Automatic calculation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39" y="5824727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Settlement page calculates exact amounts — admin just clicks Mark Settled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9A84C"/>
                </a:solidFill>
                <a:latin typeface="Calibri"/>
              </a:rPr>
              <a:t>إِمَارَة · Imara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8D5BE"/>
                </a:solidFill>
                <a:latin typeface="Calibri"/>
              </a:rPr>
              <a:t>Developing · Building · Flourishing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697480"/>
            <a:ext cx="9326880" cy="47548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275234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🔗  Live URL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752344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mosque-os-ai.vercel.app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246120"/>
            <a:ext cx="9326880" cy="47548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330098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🛡  Admin 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3300984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admin  /  Imara@2026  → /admin/login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794760"/>
            <a:ext cx="9326880" cy="47548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384962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🏪  Merchant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849624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PIN: 1234  → /merchant/login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343400"/>
            <a:ext cx="9326880" cy="47548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08760" y="439826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💳  PayNow UEN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398264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6596805367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4892040"/>
            <a:ext cx="9326880" cy="47548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08760" y="4946903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📧  Admin email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946903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mdghazali.ahmad@gmail.com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5440680"/>
            <a:ext cx="9326880" cy="47548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08760" y="549554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🎬  Demo bar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5495544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Switch personas instantly on every page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263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D2B"/>
                </a:solidFill>
                <a:latin typeface="Calibri"/>
              </a:rPr>
              <a:t>Zero platform fees  ·  PayNow  ·  Open source  ·  Built for Singapore mosques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